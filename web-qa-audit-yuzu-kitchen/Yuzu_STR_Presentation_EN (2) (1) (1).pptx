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an independent audit of the Yuzu Asian Kitchen website — not a bug list, but a product report.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Five sections, one final verdict on launch readiness.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Yuzu is two branches, nineteen menu categories, and support for six languages.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All four blocks passed QA review — this is the foundation the rest of the audit builds on.</a:t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 covered both branches, all six languages, more than forty checklist areas, and documented sixteen bugs.</a:t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Three parallel approaches: exploratory testing, checklist coverage, and boundary-value validation.</a:t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Half of all sixteen findings live inside cart and checkout.</a:t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Three quarters of findings are Medium severity. Cart and Localization together are more than half.</a:t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Nini Hachi in Tel Aviv — same category, but noticeably sharper feedback at every step.</a:t>
            </a:r>
            <a:endParaRPr/>
          </a:p>
        </p:txBody>
      </p:sp>
      <p:sp>
        <p:nvSpPr>
          <p:cNvPr id="291" name="Google Shape;2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Sushi Co in the UK — brand and UX work together, not separately.</a:t>
            </a:r>
            <a:endParaRPr/>
          </a:p>
        </p:txBody>
      </p:sp>
      <p:sp>
        <p:nvSpPr>
          <p:cNvPr id="342" name="Google Shape;3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Four patterns ready for direct adoption — each traced to a specific source.</a:t>
            </a:r>
            <a:endParaRPr/>
          </a:p>
        </p:txBody>
      </p:sp>
      <p:sp>
        <p:nvSpPr>
          <p:cNvPr id="377" name="Google Shape;3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Here's exactly what bug #1 looks like: decline a drink upsell, and the entire cart silently empties.</a:t>
            </a:r>
            <a:endParaRPr/>
          </a:p>
        </p:txBody>
      </p:sp>
      <p:sp>
        <p:nvSpPr>
          <p:cNvPr id="411" name="Google Shape;41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At the last step before payment, one silent bug can empty the cart with no warning.</a:t>
            </a:r>
            <a:endParaRPr/>
          </a:p>
        </p:txBody>
      </p:sp>
      <p:sp>
        <p:nvSpPr>
          <p:cNvPr id="447" name="Google Shape;4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Verdict: the site is ready for launch as soon as the one blocking fix is in.</a:t>
            </a:r>
            <a:endParaRPr/>
          </a:p>
        </p:txBody>
      </p:sp>
      <p:sp>
        <p:nvSpPr>
          <p:cNvPr id="475" name="Google Shape;47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Thank you, happy to take questions.</a:t>
            </a:r>
            <a:endParaRPr/>
          </a:p>
        </p:txBody>
      </p:sp>
      <p:sp>
        <p:nvSpPr>
          <p:cNvPr id="509" name="Google Shape;50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10" Type="http://schemas.openxmlformats.org/officeDocument/2006/relationships/image" Target="../media/image26.png"/><Relationship Id="rId9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5.png"/><Relationship Id="rId6" Type="http://schemas.openxmlformats.org/officeDocument/2006/relationships/image" Target="../media/image23.png"/><Relationship Id="rId7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260604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5000"/>
              <a:buFont typeface="Cambria"/>
              <a:buNone/>
            </a:pPr>
            <a:r>
              <a:rPr b="1" i="0" lang="en-US" sz="5000" u="none" cap="none" strike="noStrike">
                <a:solidFill>
                  <a:srgbClr val="C5A059"/>
                </a:solidFill>
                <a:latin typeface="Cambria"/>
                <a:ea typeface="Cambria"/>
                <a:cs typeface="Cambria"/>
                <a:sym typeface="Cambria"/>
              </a:rPr>
              <a:t>YUZU ASIAN KITCHEN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3"/>
          <p:cNvCxnSpPr/>
          <p:nvPr/>
        </p:nvCxnSpPr>
        <p:spPr>
          <a:xfrm>
            <a:off x="841248" y="361188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Website  QA Audit &amp; UX Report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608076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Prepared by Denis Kondratev — QA &amp; Automation, Technion TCQA46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July 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4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AD8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4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What We'll Cover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777240" y="2148840"/>
            <a:ext cx="10607040" cy="658368"/>
          </a:xfrm>
          <a:prstGeom prst="roundRect">
            <a:avLst>
              <a:gd fmla="val 12500" name="adj"/>
            </a:avLst>
          </a:prstGeom>
          <a:solidFill>
            <a:srgbClr val="FBFAF8"/>
          </a:solidFill>
          <a:ln cap="flat" cmpd="sng" w="12700">
            <a:solidFill>
              <a:srgbClr val="EFEB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005840" y="2148840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C5A059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057400" y="222199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rPr>
              <a:t>The Product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675120" y="214884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What Yuzu is, and what makes it work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77240" y="2935224"/>
            <a:ext cx="10607040" cy="658368"/>
          </a:xfrm>
          <a:prstGeom prst="roundRect">
            <a:avLst>
              <a:gd fmla="val 12500" name="adj"/>
            </a:avLst>
          </a:prstGeom>
          <a:solidFill>
            <a:srgbClr val="FBFAF8"/>
          </a:solidFill>
          <a:ln cap="flat" cmpd="sng" w="12700">
            <a:solidFill>
              <a:srgbClr val="EFEB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005840" y="2935224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C5A059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057400" y="300837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rPr>
              <a:t>QA Methodology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675120" y="2935224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Testing approaches, coverage, and checklists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77240" y="3721608"/>
            <a:ext cx="10607040" cy="658368"/>
          </a:xfrm>
          <a:prstGeom prst="roundRect">
            <a:avLst>
              <a:gd fmla="val 12500" name="adj"/>
            </a:avLst>
          </a:prstGeom>
          <a:solidFill>
            <a:srgbClr val="FBFAF8"/>
          </a:solidFill>
          <a:ln cap="flat" cmpd="sng" w="12700">
            <a:solidFill>
              <a:srgbClr val="EFEB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05840" y="3721608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C5A059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057400" y="37947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rPr>
              <a:t>Quality Snapshot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675120" y="3721608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Defect statistics, severity, and distribution by area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77240" y="4507992"/>
            <a:ext cx="10607040" cy="658368"/>
          </a:xfrm>
          <a:prstGeom prst="roundRect">
            <a:avLst>
              <a:gd fmla="val 12500" name="adj"/>
            </a:avLst>
          </a:prstGeom>
          <a:solidFill>
            <a:srgbClr val="FBFAF8"/>
          </a:solidFill>
          <a:ln cap="flat" cmpd="sng" w="12700">
            <a:solidFill>
              <a:srgbClr val="EFEB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05840" y="4507992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C5A059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057400" y="458114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rPr>
              <a:t>Competitive Benchmarking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675120" y="4507992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UI/UX comparison against key competitors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77240" y="5294376"/>
            <a:ext cx="10607040" cy="658368"/>
          </a:xfrm>
          <a:prstGeom prst="roundRect">
            <a:avLst>
              <a:gd fmla="val 12500" name="adj"/>
            </a:avLst>
          </a:prstGeom>
          <a:solidFill>
            <a:srgbClr val="FBFAF8"/>
          </a:solidFill>
          <a:ln cap="flat" cmpd="sng" w="12700">
            <a:solidFill>
              <a:srgbClr val="EFEB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005840" y="5294376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C5A059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057400" y="53675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222222"/>
                </a:solidFill>
                <a:latin typeface="Cambria"/>
                <a:ea typeface="Cambria"/>
                <a:cs typeface="Cambria"/>
                <a:sym typeface="Cambria"/>
              </a:rPr>
              <a:t>Recommendations &amp; Verdict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675120" y="5294376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3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riority  and release readiness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02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4225" y="135500"/>
            <a:ext cx="914400" cy="91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THE PRODUCT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AD8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5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What Is Yuzu Asian Kitchen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777240" y="17830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A real, live ordering platform for a multi-branch restaurant — not a demo.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77240" y="2240280"/>
            <a:ext cx="2514600" cy="306330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78408" y="2450592"/>
            <a:ext cx="566928" cy="56692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sitemap_gold.png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778" y="2529962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978408" y="3200400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2 Branches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78408" y="35844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Rishon LeZion &amp; Haifa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5"/>
          <p:cNvCxnSpPr/>
          <p:nvPr/>
        </p:nvCxnSpPr>
        <p:spPr>
          <a:xfrm>
            <a:off x="978408" y="4005072"/>
            <a:ext cx="1965960" cy="0"/>
          </a:xfrm>
          <a:prstGeom prst="straightConnector1">
            <a:avLst/>
          </a:prstGeom>
          <a:noFill/>
          <a:ln cap="flat" cmpd="sng" w="12700">
            <a:solidFill>
              <a:srgbClr val="E7E4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5"/>
          <p:cNvSpPr/>
          <p:nvPr/>
        </p:nvSpPr>
        <p:spPr>
          <a:xfrm>
            <a:off x="978408" y="4114800"/>
            <a:ext cx="21305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Live open/closed status, 11:00–22:00 daily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429000" y="2240280"/>
            <a:ext cx="2514600" cy="306324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630168" y="2450592"/>
            <a:ext cx="566928" cy="56692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utensils_gold.png" id="69" name="Google Shape;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9538" y="2529962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3630168" y="3200400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19 Categories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630168" y="35844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100+ menu items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5"/>
          <p:cNvCxnSpPr/>
          <p:nvPr/>
        </p:nvCxnSpPr>
        <p:spPr>
          <a:xfrm>
            <a:off x="3630168" y="4005072"/>
            <a:ext cx="1965960" cy="0"/>
          </a:xfrm>
          <a:prstGeom prst="straightConnector1">
            <a:avLst/>
          </a:prstGeom>
          <a:noFill/>
          <a:ln cap="flat" cmpd="sng" w="12700">
            <a:solidFill>
              <a:srgbClr val="E7E4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5"/>
          <p:cNvSpPr/>
          <p:nvPr/>
        </p:nvSpPr>
        <p:spPr>
          <a:xfrm>
            <a:off x="3630168" y="4114800"/>
            <a:ext cx="21305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From nigiri and sashimi to ramen and hot woks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080760" y="2240280"/>
            <a:ext cx="2514600" cy="306324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281928" y="2450592"/>
            <a:ext cx="566928" cy="56692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art_gold.png" id="76" name="Google Shape;7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1298" y="2529962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6281928" y="3200400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Delivery + Pickup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281928" y="35844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Real-time availability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5"/>
          <p:cNvCxnSpPr/>
          <p:nvPr/>
        </p:nvCxnSpPr>
        <p:spPr>
          <a:xfrm>
            <a:off x="6281928" y="4005072"/>
            <a:ext cx="1965960" cy="0"/>
          </a:xfrm>
          <a:prstGeom prst="straightConnector1">
            <a:avLst/>
          </a:prstGeom>
          <a:noFill/>
          <a:ln cap="flat" cmpd="sng" w="12700">
            <a:solidFill>
              <a:srgbClr val="E7E4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5"/>
          <p:cNvSpPr/>
          <p:nvPr/>
        </p:nvSpPr>
        <p:spPr>
          <a:xfrm>
            <a:off x="6281928" y="4114800"/>
            <a:ext cx="21305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Ordering opens and closes with branch hours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8732520" y="2240280"/>
            <a:ext cx="2514600" cy="306324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933688" y="2450592"/>
            <a:ext cx="566928" cy="56692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anguage_gold.png" id="83" name="Google Shape;8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13058" y="2529962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8933688" y="3200400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6 Languages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933688" y="35844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HE / EN / RU / FR / ES / 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5"/>
          <p:cNvCxnSpPr/>
          <p:nvPr/>
        </p:nvCxnSpPr>
        <p:spPr>
          <a:xfrm>
            <a:off x="8933688" y="4005072"/>
            <a:ext cx="1965960" cy="0"/>
          </a:xfrm>
          <a:prstGeom prst="straightConnector1">
            <a:avLst/>
          </a:prstGeom>
          <a:noFill/>
          <a:ln cap="flat" cmpd="sng" w="12700">
            <a:solidFill>
              <a:srgbClr val="E7E4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5"/>
          <p:cNvSpPr/>
          <p:nvPr/>
        </p:nvSpPr>
        <p:spPr>
          <a:xfrm>
            <a:off x="8933688" y="4114800"/>
            <a:ext cx="21305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Full interface localization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77240" y="5486400"/>
            <a:ext cx="10607040" cy="658368"/>
          </a:xfrm>
          <a:prstGeom prst="roundRect">
            <a:avLst>
              <a:gd fmla="val 12500" name="adj"/>
            </a:avLst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005840" y="5486400"/>
            <a:ext cx="10149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03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34225" y="135500"/>
            <a:ext cx="914400" cy="91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THE PRODUCT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6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AD8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Key Strengths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777240" y="2240280"/>
            <a:ext cx="2450592" cy="3246120"/>
          </a:xfrm>
          <a:prstGeom prst="roundRect">
            <a:avLst>
              <a:gd fmla="val 3358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978408" y="2770632"/>
            <a:ext cx="566928" cy="56692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brush_gold.png"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778" y="2850002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978408" y="3474720"/>
            <a:ext cx="20848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Strong Visual Identity &amp; Usability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978408" y="4297680"/>
            <a:ext cx="21305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Consistent cherry-blossom branding across all 6 languages and intuitive navigation.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364992" y="2240280"/>
            <a:ext cx="2450592" cy="3246120"/>
          </a:xfrm>
          <a:prstGeom prst="roundRect">
            <a:avLst>
              <a:gd fmla="val 3358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566160" y="2770632"/>
            <a:ext cx="566928" cy="56692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utensils_gold.png" id="107" name="Google Shape;10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5530" y="2850002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3566160" y="3474720"/>
            <a:ext cx="20848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Rich Customization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566160" y="4297680"/>
            <a:ext cx="21305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Up to 12 sauce and add-on options on a single dish.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952744" y="2240280"/>
            <a:ext cx="2450592" cy="3246120"/>
          </a:xfrm>
          <a:prstGeom prst="roundRect">
            <a:avLst>
              <a:gd fmla="val 3358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153912" y="2770632"/>
            <a:ext cx="566928" cy="56692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globe_gold.png" id="112" name="Google Shape;11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3282" y="2850002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6153912" y="3474720"/>
            <a:ext cx="20848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Multi-Branch, Multi-Language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153912" y="4297680"/>
            <a:ext cx="21305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Branches in the center and north of the country. Available in 6 languages.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540496" y="2240280"/>
            <a:ext cx="2450592" cy="3246120"/>
          </a:xfrm>
          <a:prstGeom prst="roundRect">
            <a:avLst>
              <a:gd fmla="val 3358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741664" y="2770632"/>
            <a:ext cx="566928" cy="56692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ock_gold.png" id="117" name="Google Shape;11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1034" y="2850002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8741664" y="3474720"/>
            <a:ext cx="20848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Secure Order Verification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741664" y="4297680"/>
            <a:ext cx="21305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Two-factor SMS-code verification to guard against fake orders.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77240" y="5623560"/>
            <a:ext cx="10607040" cy="566928"/>
          </a:xfrm>
          <a:prstGeom prst="roundRect">
            <a:avLst>
              <a:gd fmla="val 12903" name="adj"/>
            </a:avLst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04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34225" y="135500"/>
            <a:ext cx="914400" cy="91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THE PRODUCT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7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AD8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7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Scope of Testing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77240" y="2286000"/>
            <a:ext cx="2514600" cy="329184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760220" y="2560320"/>
            <a:ext cx="548640" cy="548640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sitemap_gold.png"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7030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777240" y="329184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68680" y="41148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BRANCHES TESTED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914400" y="452628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Rishon LeZion &amp; Haifa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429000" y="2286000"/>
            <a:ext cx="2514600" cy="329184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411980" y="2560320"/>
            <a:ext cx="548640" cy="548640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anguage_gold.png" id="139" name="Google Shape;1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8790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3429000" y="329184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520440" y="41148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LANGUAGES TESTED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566160" y="452628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HE, EN, RU, FR, ES, 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080760" y="2286000"/>
            <a:ext cx="2514600" cy="329184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063740" y="2560320"/>
            <a:ext cx="548640" cy="548640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lipboard_gold.png" id="145" name="Google Shape;14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0550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6080760" y="329184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40+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172200" y="41148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CHECKLIST AREAS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217920" y="452628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Usability, GUI, Security, Compatibility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732520" y="2286000"/>
            <a:ext cx="2514600" cy="329184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715500" y="2560320"/>
            <a:ext cx="548640" cy="548640"/>
          </a:xfrm>
          <a:prstGeom prst="ellipse">
            <a:avLst/>
          </a:prstGeom>
          <a:solidFill>
            <a:srgbClr val="FB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shield_dark.png" id="151" name="Google Shape;15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92310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8732520" y="329184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383A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D9383A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823960" y="41148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BUGS DOCUMENTED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869680" y="452628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Confirmed, with steps to reproduce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05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34225" y="135500"/>
            <a:ext cx="914400" cy="91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8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AD8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8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Testing Methodology &amp; Approaches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77240" y="2331720"/>
            <a:ext cx="3291840" cy="2788920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978408" y="2560320"/>
            <a:ext cx="548640" cy="548640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search_gold.png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218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978408" y="324612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Exploratory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78408" y="384048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Free-form review of core scenarios: product search, cart, and checkout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343400" y="2331720"/>
            <a:ext cx="3291840" cy="2788920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544568" y="2560320"/>
            <a:ext cx="548640" cy="548640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lipboard_gold.png" id="172" name="Google Shape;1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1378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4544568" y="324612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Checklist-Driven Coverage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544568" y="384048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40+ functional areas reviewed against the Web Site Testing Checklist standard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909560" y="2331720"/>
            <a:ext cx="3291840" cy="2788920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110728" y="2560320"/>
            <a:ext cx="548640" cy="548640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target_gold.png" id="177" name="Google Shape;17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7538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8110728" y="324612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Boundary Values &amp; Validation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8110728" y="384048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Deliberate edge cases: max text length, invalid characters, field limits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77240" y="5440680"/>
            <a:ext cx="1060704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005840" y="544068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💻 Primary browser: Chrome  |  Cross-browser audit: Firefox, Safari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778240" y="5623560"/>
            <a:ext cx="2514600" cy="347472"/>
          </a:xfrm>
          <a:prstGeom prst="roundRect">
            <a:avLst>
              <a:gd fmla="val 50000" name="adj"/>
            </a:avLst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778240" y="5623560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 UNIQUE BUGS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06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34225" y="135500"/>
            <a:ext cx="914400" cy="91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QUALITY SNAPSHOT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9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AD8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9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Distribution of Found Defects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103120"/>
            <a:ext cx="429768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457200" y="361188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57200" y="417880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TOTAL FINDINGS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257800" y="2194560"/>
            <a:ext cx="164592" cy="164592"/>
          </a:xfrm>
          <a:prstGeom prst="roundRect">
            <a:avLst>
              <a:gd fmla="val 22222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559552" y="214884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Cart &amp; Checkout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8778240" y="2148840"/>
            <a:ext cx="73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50"/>
              <a:buFont typeface="Cambria"/>
              <a:buNone/>
            </a:pPr>
            <a:r>
              <a:rPr b="1" i="0" lang="en-US" sz="2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9601200" y="21488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257800" y="2578608"/>
            <a:ext cx="164592" cy="164592"/>
          </a:xfrm>
          <a:prstGeom prst="roundRect">
            <a:avLst>
              <a:gd fmla="val 22222" name="adj"/>
            </a:avLst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559552" y="253288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Localization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8778240" y="253288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50"/>
              <a:buFont typeface="Cambria"/>
              <a:buNone/>
            </a:pPr>
            <a:r>
              <a:rPr b="1" i="0" lang="en-US" sz="2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9601200" y="25328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257800" y="2962656"/>
            <a:ext cx="164592" cy="164592"/>
          </a:xfrm>
          <a:prstGeom prst="roundRect">
            <a:avLst>
              <a:gd fmla="val 22222" name="adj"/>
            </a:avLst>
          </a:prstGeom>
          <a:solidFill>
            <a:srgbClr val="6B4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559552" y="291693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778240" y="2916936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50"/>
              <a:buFont typeface="Cambria"/>
              <a:buNone/>
            </a:pPr>
            <a:r>
              <a:rPr b="1" i="0" lang="en-US" sz="2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9601200" y="291693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6%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257800" y="3346704"/>
            <a:ext cx="164592" cy="164592"/>
          </a:xfrm>
          <a:prstGeom prst="roundRect">
            <a:avLst>
              <a:gd fmla="val 22222" name="adj"/>
            </a:avLst>
          </a:prstGeom>
          <a:solidFill>
            <a:srgbClr val="4A4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559552" y="33009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8778240" y="330098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50"/>
              <a:buFont typeface="Cambria"/>
              <a:buNone/>
            </a:pPr>
            <a:r>
              <a:rPr b="1" i="0" lang="en-US" sz="2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9601200" y="330098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6%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257800" y="3730752"/>
            <a:ext cx="164592" cy="164592"/>
          </a:xfrm>
          <a:prstGeom prst="roundRect">
            <a:avLst>
              <a:gd fmla="val 22222" name="adj"/>
            </a:avLst>
          </a:pr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559552" y="368503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778240" y="368503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50"/>
              <a:buFont typeface="Cambria"/>
              <a:buNone/>
            </a:pPr>
            <a:r>
              <a:rPr b="1" i="0" lang="en-US" sz="2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9601200" y="368503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6%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257800" y="4114800"/>
            <a:ext cx="164592" cy="164592"/>
          </a:xfrm>
          <a:prstGeom prst="roundRect">
            <a:avLst>
              <a:gd fmla="val 22222" name="adj"/>
            </a:avLst>
          </a:prstGeom>
          <a:solidFill>
            <a:srgbClr val="E3D3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559552" y="406908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UI/Design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8778240" y="406908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50"/>
              <a:buFont typeface="Cambria"/>
              <a:buNone/>
            </a:pPr>
            <a:r>
              <a:rPr b="1" i="0" lang="en-US" sz="2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9601200" y="406908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Calibri"/>
              <a:buNone/>
            </a:pPr>
            <a:r>
              <a:rPr b="0" i="0" lang="en-US" sz="20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6%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9"/>
          <p:cNvCxnSpPr/>
          <p:nvPr/>
        </p:nvCxnSpPr>
        <p:spPr>
          <a:xfrm>
            <a:off x="5257800" y="4526280"/>
            <a:ext cx="5440680" cy="0"/>
          </a:xfrm>
          <a:prstGeom prst="straightConnector1">
            <a:avLst/>
          </a:prstGeom>
          <a:noFill/>
          <a:ln cap="flat" cmpd="sng" w="12700">
            <a:solidFill>
              <a:srgbClr val="E7E4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9"/>
          <p:cNvSpPr/>
          <p:nvPr/>
        </p:nvSpPr>
        <p:spPr>
          <a:xfrm>
            <a:off x="5257800" y="4681728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383A"/>
              </a:buClr>
              <a:buSzPts val="5000"/>
              <a:buFont typeface="Cambria"/>
              <a:buNone/>
            </a:pPr>
            <a:r>
              <a:rPr b="1" i="0" lang="en-US" sz="5000" u="none" cap="none" strike="noStrike">
                <a:solidFill>
                  <a:srgbClr val="D9383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263640" y="470916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finding carries direct revenue impact — at the final step before payment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07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4225" y="135500"/>
            <a:ext cx="914400" cy="91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QUALITY SNAPSHOT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0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AD8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0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Defect Analysis by Severity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77240" y="17830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One high-priority issue; the rest are refinements, not a rebuild.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777240" y="2103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BY SEVERITY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423160"/>
            <a:ext cx="329184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/>
          <p:nvPr/>
        </p:nvSpPr>
        <p:spPr>
          <a:xfrm>
            <a:off x="3977640" y="2606040"/>
            <a:ext cx="201168" cy="201168"/>
          </a:xfrm>
          <a:prstGeom prst="ellipse">
            <a:avLst/>
          </a:prstGeom>
          <a:solidFill>
            <a:srgbClr val="D938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279392" y="256032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279392" y="2825496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3977640" y="3474720"/>
            <a:ext cx="201168" cy="201168"/>
          </a:xfrm>
          <a:prstGeom prst="ellipse">
            <a:avLst/>
          </a:prstGeom>
          <a:solidFill>
            <a:srgbClr val="E89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279392" y="34290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279392" y="3694176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977640" y="4343400"/>
            <a:ext cx="201168" cy="201168"/>
          </a:xfrm>
          <a:prstGeom prst="ellipse">
            <a:avLst/>
          </a:prstGeom>
          <a:solidFill>
            <a:srgbClr val="C9C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279392" y="42976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279392" y="4562856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777240" y="5486400"/>
            <a:ext cx="4709160" cy="749808"/>
          </a:xfrm>
          <a:prstGeom prst="roundRect">
            <a:avLst>
              <a:gd fmla="val 8537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960120" y="5486400"/>
            <a:ext cx="4343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75% </a:t>
            </a: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of defects are Medium severity (targeted UI/UX fixes, no architectural risk).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0"/>
          <p:cNvCxnSpPr/>
          <p:nvPr/>
        </p:nvCxnSpPr>
        <p:spPr>
          <a:xfrm>
            <a:off x="6080760" y="2103120"/>
            <a:ext cx="0" cy="3657600"/>
          </a:xfrm>
          <a:prstGeom prst="straightConnector1">
            <a:avLst/>
          </a:prstGeom>
          <a:noFill/>
          <a:ln cap="flat" cmpd="sng" w="12700">
            <a:solidFill>
              <a:srgbClr val="E7E4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0"/>
          <p:cNvSpPr/>
          <p:nvPr/>
        </p:nvSpPr>
        <p:spPr>
          <a:xfrm>
            <a:off x="6400800" y="2103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BY 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cart_dark.png" id="250" name="Google Shape;25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24780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0"/>
          <p:cNvSpPr/>
          <p:nvPr/>
        </p:nvSpPr>
        <p:spPr>
          <a:xfrm>
            <a:off x="6693408" y="245059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8138160" y="2569464"/>
            <a:ext cx="2514600" cy="91440"/>
          </a:xfrm>
          <a:prstGeom prst="rect">
            <a:avLst/>
          </a:prstGeom>
          <a:solidFill>
            <a:srgbClr val="EF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8138160" y="2569464"/>
            <a:ext cx="2514600" cy="914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0744200" y="2450592"/>
            <a:ext cx="365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language_dark.png" id="255" name="Google Shape;25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84378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/>
          <p:nvPr/>
        </p:nvSpPr>
        <p:spPr>
          <a:xfrm>
            <a:off x="6693408" y="281635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Localization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8138160" y="2935224"/>
            <a:ext cx="2514600" cy="91440"/>
          </a:xfrm>
          <a:prstGeom prst="rect">
            <a:avLst/>
          </a:prstGeom>
          <a:solidFill>
            <a:srgbClr val="EF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8138160" y="2935224"/>
            <a:ext cx="2011680" cy="914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0744200" y="2816352"/>
            <a:ext cx="365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clipboard_dark.png" id="260" name="Google Shape;26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320954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/>
          <p:nvPr/>
        </p:nvSpPr>
        <p:spPr>
          <a:xfrm>
            <a:off x="6693408" y="318211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Checkout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8138160" y="3300984"/>
            <a:ext cx="2514600" cy="91440"/>
          </a:xfrm>
          <a:prstGeom prst="rect">
            <a:avLst/>
          </a:prstGeom>
          <a:solidFill>
            <a:srgbClr val="EF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8138160" y="3300984"/>
            <a:ext cx="1508760" cy="914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0744200" y="3182112"/>
            <a:ext cx="365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utensils_dark.png" id="265" name="Google Shape;26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0" y="357530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/>
          <p:nvPr/>
        </p:nvSpPr>
        <p:spPr>
          <a:xfrm>
            <a:off x="6693408" y="354787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8138160" y="3666744"/>
            <a:ext cx="2514600" cy="91440"/>
          </a:xfrm>
          <a:prstGeom prst="rect">
            <a:avLst/>
          </a:prstGeom>
          <a:solidFill>
            <a:srgbClr val="EF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8138160" y="3666744"/>
            <a:ext cx="502920" cy="914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0744200" y="3547872"/>
            <a:ext cx="365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search_dark.png" id="270" name="Google Shape;27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0" y="39410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0"/>
          <p:cNvSpPr/>
          <p:nvPr/>
        </p:nvSpPr>
        <p:spPr>
          <a:xfrm>
            <a:off x="6693408" y="391363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8138160" y="4032504"/>
            <a:ext cx="2514600" cy="91440"/>
          </a:xfrm>
          <a:prstGeom prst="rect">
            <a:avLst/>
          </a:prstGeom>
          <a:solidFill>
            <a:srgbClr val="EF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8138160" y="4032504"/>
            <a:ext cx="502920" cy="914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0744200" y="3913632"/>
            <a:ext cx="365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chartline_dark.png" id="275" name="Google Shape;275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0" y="43068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/>
          <p:nvPr/>
        </p:nvSpPr>
        <p:spPr>
          <a:xfrm>
            <a:off x="6693408" y="427939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8138160" y="4398264"/>
            <a:ext cx="2514600" cy="91440"/>
          </a:xfrm>
          <a:prstGeom prst="rect">
            <a:avLst/>
          </a:prstGeom>
          <a:solidFill>
            <a:srgbClr val="EF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8138160" y="4398264"/>
            <a:ext cx="502920" cy="914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0744200" y="4279392"/>
            <a:ext cx="365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brush_dark.png" id="280" name="Google Shape;280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00800" y="467258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0"/>
          <p:cNvSpPr/>
          <p:nvPr/>
        </p:nvSpPr>
        <p:spPr>
          <a:xfrm>
            <a:off x="6693408" y="464515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UI/Design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8138160" y="4764024"/>
            <a:ext cx="2514600" cy="91440"/>
          </a:xfrm>
          <a:prstGeom prst="rect">
            <a:avLst/>
          </a:prstGeom>
          <a:solidFill>
            <a:srgbClr val="EF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8138160" y="4764024"/>
            <a:ext cx="502920" cy="914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0744200" y="4645152"/>
            <a:ext cx="365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400800" y="5102352"/>
            <a:ext cx="4983480" cy="658368"/>
          </a:xfrm>
          <a:prstGeom prst="roundRect">
            <a:avLst>
              <a:gd fmla="val 9722" name="adj"/>
            </a:avLst>
          </a:prstGeom>
          <a:solidFill>
            <a:srgbClr val="F7F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583680" y="5102352"/>
            <a:ext cx="4617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150"/>
              <a:buFont typeface="Calibri"/>
              <a:buNone/>
            </a:pPr>
            <a:r>
              <a:rPr b="1" i="0" lang="en-US" sz="17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r>
              <a:rPr b="0" i="0" lang="en-US" sz="17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7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Localization</a:t>
            </a:r>
            <a:r>
              <a:rPr b="0" i="0" lang="en-US" sz="17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together account for more than 50% of all findings.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08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BENCHMARKING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1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AD8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1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Local Reference: Nini Hachi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777240" y="17830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Competitor analysis: a direct comparison of UX patterns and user feedback.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777240" y="2084832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TEL AVIV, ISRAEL   ·   PLATFORM: MISHLOHA   ·   SUSHI &amp; ASIAN CUISINE, DELIVERY + PICKUP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777240" y="2331720"/>
            <a:ext cx="3429000" cy="2029968"/>
          </a:xfrm>
          <a:prstGeom prst="roundRect">
            <a:avLst>
              <a:gd fmla="val 4054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2788920" y="2459736"/>
            <a:ext cx="1280160" cy="292608"/>
          </a:xfrm>
          <a:prstGeom prst="roundRect">
            <a:avLst>
              <a:gd fmla="val 50000" name="adj"/>
            </a:avLst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2788920" y="245973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UX FEEDBACK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941832" y="2478024"/>
            <a:ext cx="384048" cy="38404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heck_gold.png" id="302" name="Google Shape;3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599" y="2531791"/>
            <a:ext cx="276515" cy="27651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1"/>
          <p:cNvSpPr/>
          <p:nvPr/>
        </p:nvSpPr>
        <p:spPr>
          <a:xfrm>
            <a:off x="941832" y="2916936"/>
            <a:ext cx="30998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mbria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Explicit “Added to Cart” Confirmation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941832" y="3465576"/>
            <a:ext cx="30998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50"/>
              <a:buFont typeface="Calibri"/>
              <a:buNone/>
            </a:pPr>
            <a:r>
              <a:rPr b="0" i="0" lang="en-US" sz="13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A clear toast/pop-up status on every product add.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941832" y="3904488"/>
            <a:ext cx="30998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950"/>
              <a:buFont typeface="Calibri"/>
              <a:buNone/>
            </a:pPr>
            <a:r>
              <a:rPr b="0" i="1" lang="en-US" sz="11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Why: Removes accidental repeat clicks and user doubt.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352544" y="2331720"/>
            <a:ext cx="3429000" cy="2029968"/>
          </a:xfrm>
          <a:prstGeom prst="roundRect">
            <a:avLst>
              <a:gd fmla="val 4054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6364224" y="2459736"/>
            <a:ext cx="1280160" cy="292608"/>
          </a:xfrm>
          <a:prstGeom prst="roundRect">
            <a:avLst>
              <a:gd fmla="val 50000" name="adj"/>
            </a:avLst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6364224" y="245973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PROACTIVE 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4517136" y="2478024"/>
            <a:ext cx="384048" cy="38404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bell_gold.png" id="310" name="Google Shape;3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0903" y="2531791"/>
            <a:ext cx="276515" cy="27651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1"/>
          <p:cNvSpPr/>
          <p:nvPr/>
        </p:nvSpPr>
        <p:spPr>
          <a:xfrm>
            <a:off x="4517136" y="2916936"/>
            <a:ext cx="30998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Proactive Minimum-Order Alerts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517136" y="3465576"/>
            <a:ext cx="3099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50"/>
              <a:buFont typeface="Calibri"/>
              <a:buNone/>
            </a:pPr>
            <a:r>
              <a:rPr b="0" i="0" lang="en-US" sz="13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A dynamic prompt (“Add ₪12 more to reach the ₪50 minimum”).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517136" y="3904488"/>
            <a:ext cx="30998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950"/>
              <a:buFont typeface="Calibri"/>
              <a:buNone/>
            </a:pPr>
            <a:r>
              <a:rPr b="0" i="1" lang="en-US" sz="11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Why: Prevents silent blocks at checkout.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7927848" y="2331720"/>
            <a:ext cx="3429000" cy="2029968"/>
          </a:xfrm>
          <a:prstGeom prst="roundRect">
            <a:avLst>
              <a:gd fmla="val 4054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9939528" y="2459736"/>
            <a:ext cx="1280160" cy="292608"/>
          </a:xfrm>
          <a:prstGeom prst="roundRect">
            <a:avLst>
              <a:gd fmla="val 50000" name="adj"/>
            </a:avLst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9939528" y="245973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8092440" y="2478024"/>
            <a:ext cx="384048" cy="38404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search_gold.png" id="318" name="Google Shape;31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6207" y="2531791"/>
            <a:ext cx="276515" cy="27651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/>
          <p:cNvSpPr/>
          <p:nvPr/>
        </p:nvSpPr>
        <p:spPr>
          <a:xfrm>
            <a:off x="8092440" y="2916936"/>
            <a:ext cx="30998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Explicit “No Results” State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8092440" y="3465576"/>
            <a:ext cx="30998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A clear message on empty search instead of an endless loader.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8092440" y="3904488"/>
            <a:ext cx="30998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950"/>
              <a:buFont typeface="Calibri"/>
              <a:buNone/>
            </a:pPr>
            <a:r>
              <a:rPr b="0" i="1" lang="en-US" sz="11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Why: The user always understands the system status.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2564892" y="4526280"/>
            <a:ext cx="3429000" cy="2029968"/>
          </a:xfrm>
          <a:prstGeom prst="roundRect">
            <a:avLst>
              <a:gd fmla="val 4054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576572" y="4654296"/>
            <a:ext cx="1280160" cy="292608"/>
          </a:xfrm>
          <a:prstGeom prst="roundRect">
            <a:avLst>
              <a:gd fmla="val 50000" name="adj"/>
            </a:avLst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576572" y="465429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2729484" y="4672584"/>
            <a:ext cx="384048" cy="38404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excircle_gold.png" id="326" name="Google Shape;32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83251" y="4726351"/>
            <a:ext cx="276515" cy="27651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1"/>
          <p:cNvSpPr/>
          <p:nvPr/>
        </p:nvSpPr>
        <p:spPr>
          <a:xfrm>
            <a:off x="2729484" y="5111496"/>
            <a:ext cx="30998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Correct Out-of-Stock Handling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2729484" y="5660136"/>
            <a:ext cx="30998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50"/>
              <a:buFont typeface="Calibri"/>
              <a:buNone/>
            </a:pPr>
            <a:r>
              <a:rPr b="0" i="0" lang="en-US" sz="13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Out-of-stock items are clearly blocked and labeled.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2729484" y="6099048"/>
            <a:ext cx="30998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950"/>
              <a:buFont typeface="Calibri"/>
              <a:buNone/>
            </a:pPr>
            <a:r>
              <a:rPr b="0" i="1" lang="en-US" sz="11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Why: No dead, unclickable “ghost” buttons or errors.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140196" y="4526280"/>
            <a:ext cx="3429000" cy="2029968"/>
          </a:xfrm>
          <a:prstGeom prst="roundRect">
            <a:avLst>
              <a:gd fmla="val 4054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8151876" y="4654296"/>
            <a:ext cx="1280160" cy="292608"/>
          </a:xfrm>
          <a:prstGeom prst="roundRect">
            <a:avLst>
              <a:gd fmla="val 50000" name="adj"/>
            </a:avLst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8151876" y="465429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6304788" y="4672584"/>
            <a:ext cx="384048" cy="38404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anguage_gold.png" id="334" name="Google Shape;33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8555" y="4726351"/>
            <a:ext cx="276515" cy="27651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1"/>
          <p:cNvSpPr/>
          <p:nvPr/>
        </p:nvSpPr>
        <p:spPr>
          <a:xfrm>
            <a:off x="6304788" y="5111496"/>
            <a:ext cx="30998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Honest Machine-Translation Disclaimer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6304788" y="5660136"/>
            <a:ext cx="30998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50"/>
              <a:buFont typeface="Calibri"/>
              <a:buNone/>
            </a:pPr>
            <a:r>
              <a:rPr b="0" i="0" lang="en-US" sz="13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Auto-translated items are labeled as such.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6304788" y="6099048"/>
            <a:ext cx="30998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950"/>
              <a:buFont typeface="Calibri"/>
              <a:buNone/>
            </a:pPr>
            <a:r>
              <a:rPr b="0" i="1" lang="en-US" sz="11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Why: Reduces frustration from translation errors across 6 languages.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09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BENCHMARKING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12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AD8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2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International Reference: The Sushi Co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777240" y="17830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A UK sushi chain — brand identity and UX work together.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777240" y="2084832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UNITED KINGDOM   ·   MODEL: MULTI-LOCATION CHAIN   ·   “LIVE SUSHI KITCHENS,” DINE-IN + DELIVERY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777240" y="2450592"/>
            <a:ext cx="3429000" cy="3200400"/>
          </a:xfrm>
          <a:prstGeom prst="roundRect">
            <a:avLst>
              <a:gd fmla="val 2571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2697480" y="2578608"/>
            <a:ext cx="1371600" cy="310896"/>
          </a:xfrm>
          <a:prstGeom prst="roundRect">
            <a:avLst>
              <a:gd fmla="val 50000" name="adj"/>
            </a:avLst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2697480" y="2578608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978408" y="2606040"/>
            <a:ext cx="502920" cy="502920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eaf_gold.png" id="353" name="Google Shape;3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817" y="267644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2"/>
          <p:cNvSpPr/>
          <p:nvPr/>
        </p:nvSpPr>
        <p:spPr>
          <a:xfrm>
            <a:off x="978408" y="3200400"/>
            <a:ext cx="30266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Consistent Dietary &amp; Allergen Labeling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978408" y="3977640"/>
            <a:ext cx="302666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One standard of disclaimer icons (Vegetarian / Vegan / Gluten Free) across menu, site, and app.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978408" y="5029200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950"/>
              <a:buFont typeface="Calibri"/>
              <a:buNone/>
            </a:pPr>
            <a:r>
              <a:rPr b="0" i="1" lang="en-US" sz="11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Why: Prevents selection mistakes and builds trust with dietary-restricted users.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4370832" y="2450592"/>
            <a:ext cx="3429000" cy="3200400"/>
          </a:xfrm>
          <a:prstGeom prst="roundRect">
            <a:avLst>
              <a:gd fmla="val 2571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6291072" y="2578608"/>
            <a:ext cx="1371600" cy="310896"/>
          </a:xfrm>
          <a:prstGeom prst="roundRect">
            <a:avLst>
              <a:gd fmla="val 50000" name="adj"/>
            </a:avLst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291072" y="2578608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GDPR COMPLIANCE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572000" y="2606040"/>
            <a:ext cx="502920" cy="502920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shield_gold.png" id="361" name="Google Shape;36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2409" y="267644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2"/>
          <p:cNvSpPr/>
          <p:nvPr/>
        </p:nvSpPr>
        <p:spPr>
          <a:xfrm>
            <a:off x="4572000" y="3200400"/>
            <a:ext cx="30266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Granular Cookie Consent (GDPR)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4572000" y="3977640"/>
            <a:ext cx="302666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Transparent privacy controls (Accept / Manage) instead of a vague banner.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4572000" y="5029200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Why: Full standards compliance and protection from legal risk.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7964424" y="2450592"/>
            <a:ext cx="3429000" cy="3200400"/>
          </a:xfrm>
          <a:prstGeom prst="roundRect">
            <a:avLst>
              <a:gd fmla="val 2571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9884664" y="2578608"/>
            <a:ext cx="1371600" cy="310896"/>
          </a:xfrm>
          <a:prstGeom prst="roundRect">
            <a:avLst>
              <a:gd fmla="val 50000" name="adj"/>
            </a:avLst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9884664" y="2578608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BRAND 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8165592" y="2606040"/>
            <a:ext cx="502920" cy="502920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gem_gold.png" id="369" name="Google Shape;36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6001" y="267644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/>
          <p:nvPr/>
        </p:nvSpPr>
        <p:spPr>
          <a:xfrm>
            <a:off x="8165592" y="3200400"/>
            <a:ext cx="30266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Brand Values Built Into the UX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8165592" y="3977640"/>
            <a:ext cx="302666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Freshness guarantees and dish detail are woven directly into the ordering interface.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8165592" y="5029200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Why: The brand shows up at every step, not just in marketing.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BENCHMARKING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13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AD8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13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What We'd Borrow From the Best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777240" y="17830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4 concrete, adoptable patterns — practical value grounded in the analysis.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777240" y="2286000"/>
            <a:ext cx="507492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4892040" y="2377440"/>
            <a:ext cx="777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C5A059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1005840" y="2487168"/>
            <a:ext cx="566928" cy="56692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art_gold.png" id="386" name="Google Shape;3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210" y="2566538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3"/>
          <p:cNvSpPr/>
          <p:nvPr/>
        </p:nvSpPr>
        <p:spPr>
          <a:xfrm>
            <a:off x="1737360" y="245059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Non-Destructive Upsell Flow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1737360" y="277063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(Non-intrusive Upsell)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1005840" y="315468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Declining an upsell/cross-sell offer should never clear the cart or disrupt the user's flow.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1005840" y="3803904"/>
            <a:ext cx="4617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SOURCE — NINI HACHI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6355080" y="2286000"/>
            <a:ext cx="507492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10469880" y="2377440"/>
            <a:ext cx="777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C5A059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6583680" y="2487168"/>
            <a:ext cx="566928" cy="566928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search_gold.png" id="394" name="Google Shape;3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3050" y="2566538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3"/>
          <p:cNvSpPr/>
          <p:nvPr/>
        </p:nvSpPr>
        <p:spPr>
          <a:xfrm>
            <a:off x="7315200" y="245059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Reliable Full-Text Search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7315200" y="277063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(Search Resilience)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6583680" y="315468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Handles typos, transliteration, and synonyms — relevant results for any valid query.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6583680" y="3803904"/>
            <a:ext cx="4617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SOURCE — NINI HACHI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3543303" y="4333285"/>
            <a:ext cx="507480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5E2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7658103" y="4424725"/>
            <a:ext cx="777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C5A059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3771903" y="4534453"/>
            <a:ext cx="567000" cy="567000"/>
          </a:xfrm>
          <a:prstGeom prst="ellipse">
            <a:avLst/>
          </a:prstGeom>
          <a:solidFill>
            <a:srgbClr val="FFF8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globe_gold.png" id="402" name="Google Shape;40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1272" y="4613823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3"/>
          <p:cNvSpPr/>
          <p:nvPr/>
        </p:nvSpPr>
        <p:spPr>
          <a:xfrm>
            <a:off x="4503422" y="4497877"/>
            <a:ext cx="324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True Content Localization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4503422" y="4817917"/>
            <a:ext cx="324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(Deep Localization)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3771903" y="5201965"/>
            <a:ext cx="461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Not just UI buttons — full dish descriptions, allergens, and ingredients in all 6 languages.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3771903" y="5851189"/>
            <a:ext cx="461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SOURCE — THE SUSHI 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4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p14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AD8A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14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Anatomy of a Critical Bug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777240" y="17830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One finding, traced step by step — this is what fix #1 actually looks like.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8170225" y="1572649"/>
            <a:ext cx="2313300" cy="411600"/>
          </a:xfrm>
          <a:prstGeom prst="roundRect">
            <a:avLst>
              <a:gd fmla="val 50000" name="adj"/>
            </a:avLst>
          </a:prstGeom>
          <a:solidFill>
            <a:srgbClr val="D938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8161065" y="1600245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BUG-012  ·  CRITICAL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777240" y="27432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D8A3E"/>
                </a:solidFill>
                <a:latin typeface="Calibri"/>
                <a:ea typeface="Calibri"/>
                <a:cs typeface="Calibri"/>
                <a:sym typeface="Calibri"/>
              </a:rPr>
              <a:t>STEPS TO REPRODUCE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777240" y="3090672"/>
            <a:ext cx="365760" cy="365760"/>
          </a:xfrm>
          <a:prstGeom prst="ellipse">
            <a:avLst/>
          </a:prstGeom>
          <a:solidFill>
            <a:srgbClr val="FFF8E7"/>
          </a:solidFill>
          <a:ln cap="flat" cmpd="sng" w="15875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777240" y="30906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AD8A3E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1280160" y="3072384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Add an item with modifiers to the cart (e.g. Tom Yam Soup).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777240" y="3657600"/>
            <a:ext cx="365760" cy="365760"/>
          </a:xfrm>
          <a:prstGeom prst="ellipse">
            <a:avLst/>
          </a:prstGeom>
          <a:solidFill>
            <a:srgbClr val="FFF8E7"/>
          </a:solidFill>
          <a:ln cap="flat" cmpd="sng" w="15875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777240" y="3657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AD8A3E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1280160" y="3639312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Confirm the sauce selection modal — the item is added to the cart (qty 1).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777240" y="4224528"/>
            <a:ext cx="365760" cy="365760"/>
          </a:xfrm>
          <a:prstGeom prst="ellipse">
            <a:avLst/>
          </a:prstGeom>
          <a:solidFill>
            <a:srgbClr val="FFF8E7"/>
          </a:solidFill>
          <a:ln cap="flat" cmpd="sng" w="15875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777240" y="4224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AD8A3E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1280160" y="420624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drink upsell modal appears automatically.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777240" y="4791456"/>
            <a:ext cx="365760" cy="365760"/>
          </a:xfrm>
          <a:prstGeom prst="ellipse">
            <a:avLst/>
          </a:prstGeom>
          <a:solidFill>
            <a:srgbClr val="FFF8E7"/>
          </a:solidFill>
          <a:ln cap="flat" cmpd="sng" w="15875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777240" y="47914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8A3E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AD8A3E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1280160" y="4773168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Close it via the ✕ — no explicit “No thanks” button exists.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777240" y="5431536"/>
            <a:ext cx="5852160" cy="457200"/>
          </a:xfrm>
          <a:prstGeom prst="roundRect">
            <a:avLst>
              <a:gd fmla="val 50000" name="adj"/>
            </a:avLst>
          </a:prstGeom>
          <a:solidFill>
            <a:srgbClr val="E8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1005840" y="5431536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4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7E44"/>
                </a:solidFill>
                <a:latin typeface="Calibri"/>
                <a:ea typeface="Calibri"/>
                <a:cs typeface="Calibri"/>
                <a:sym typeface="Calibri"/>
              </a:rPr>
              <a:t>Reproducibility: 100% (2/2 checks, no other actions in between).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14"/>
          <p:cNvCxnSpPr/>
          <p:nvPr/>
        </p:nvCxnSpPr>
        <p:spPr>
          <a:xfrm>
            <a:off x="6949440" y="2084832"/>
            <a:ext cx="0" cy="3977640"/>
          </a:xfrm>
          <a:prstGeom prst="straightConnector1">
            <a:avLst/>
          </a:prstGeom>
          <a:noFill/>
          <a:ln cap="flat" cmpd="sng" w="12700">
            <a:solidFill>
              <a:srgbClr val="E7E4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" name="Google Shape;435;p14"/>
          <p:cNvSpPr/>
          <p:nvPr/>
        </p:nvSpPr>
        <p:spPr>
          <a:xfrm>
            <a:off x="7269480" y="2331720"/>
            <a:ext cx="4114800" cy="1691640"/>
          </a:xfrm>
          <a:prstGeom prst="roundRect">
            <a:avLst>
              <a:gd fmla="val 4865" name="adj"/>
            </a:avLst>
          </a:prstGeom>
          <a:solidFill>
            <a:srgbClr val="E8F5EC"/>
          </a:solidFill>
          <a:ln cap="flat" cmpd="sng" w="12700">
            <a:solidFill>
              <a:srgbClr val="BFE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7452360" y="2496312"/>
            <a:ext cx="1234440" cy="329184"/>
          </a:xfrm>
          <a:prstGeom prst="roundRect">
            <a:avLst>
              <a:gd fmla="val 50000" name="adj"/>
            </a:avLst>
          </a:prstGeom>
          <a:solidFill>
            <a:srgbClr val="3FA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7452360" y="2496312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EXPECTED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7452360" y="2926080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4A2E"/>
                </a:solidFill>
                <a:latin typeface="Calibri"/>
                <a:ea typeface="Calibri"/>
                <a:cs typeface="Calibri"/>
                <a:sym typeface="Calibri"/>
              </a:rPr>
              <a:t>Declining the drink should only close the modal. The previously added soup should remain in the cart, and the user proceeds to checkout.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7269480" y="4206240"/>
            <a:ext cx="4114800" cy="1828800"/>
          </a:xfrm>
          <a:prstGeom prst="roundRect">
            <a:avLst>
              <a:gd fmla="val 4500" name="adj"/>
            </a:avLst>
          </a:prstGeom>
          <a:solidFill>
            <a:srgbClr val="FBE9E9"/>
          </a:solidFill>
          <a:ln cap="flat" cmpd="sng" w="12700">
            <a:solidFill>
              <a:srgbClr val="F0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7452360" y="4370832"/>
            <a:ext cx="1828800" cy="329184"/>
          </a:xfrm>
          <a:prstGeom prst="roundRect">
            <a:avLst>
              <a:gd fmla="val 50000" name="adj"/>
            </a:avLst>
          </a:prstGeom>
          <a:solidFill>
            <a:srgbClr val="D938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7452360" y="4370832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 / CRITICAL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7452360" y="4828032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38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9383A"/>
                </a:solidFill>
                <a:latin typeface="Calibri"/>
                <a:ea typeface="Calibri"/>
                <a:cs typeface="Calibri"/>
                <a:sym typeface="Calibri"/>
              </a:rPr>
              <a:t>The entire cart is wiped (0 items, ₪0.00). </a:t>
            </a:r>
            <a:r>
              <a:rPr b="0" i="0" lang="en-US" sz="1250" u="none" cap="none" strike="noStrike">
                <a:solidFill>
                  <a:srgbClr val="5A1414"/>
                </a:solidFill>
                <a:latin typeface="Calibri"/>
                <a:ea typeface="Calibri"/>
                <a:cs typeface="Calibri"/>
                <a:sym typeface="Calibri"/>
              </a:rPr>
              <a:t>The order is cleared with no warning, no notification, and no way to recover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5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5A059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15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15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It Matters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777240" y="17830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E4E4E4"/>
                </a:solidFill>
                <a:latin typeface="Calibri"/>
                <a:ea typeface="Calibri"/>
                <a:cs typeface="Calibri"/>
                <a:sym typeface="Calibri"/>
              </a:rPr>
              <a:t>The priority fix protects revenue at the most expensive point in the funnel.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822960" y="2286000"/>
            <a:ext cx="2606040" cy="868680"/>
          </a:xfrm>
          <a:prstGeom prst="chevron">
            <a:avLst>
              <a:gd fmla="val 50000" name="adj"/>
            </a:avLst>
          </a:prstGeom>
          <a:solidFill>
            <a:srgbClr val="232323"/>
          </a:solidFill>
          <a:ln cap="flat" cmpd="sng" w="254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960120" y="228600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Browse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3108960" y="2286000"/>
            <a:ext cx="2606040" cy="868680"/>
          </a:xfrm>
          <a:prstGeom prst="chevron">
            <a:avLst>
              <a:gd fmla="val 50000" name="adj"/>
            </a:avLst>
          </a:prstGeom>
          <a:solidFill>
            <a:srgbClr val="232323"/>
          </a:solidFill>
          <a:ln cap="flat" cmpd="sng" w="254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3246120" y="228600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5394960" y="2286000"/>
            <a:ext cx="2606040" cy="868680"/>
          </a:xfrm>
          <a:prstGeom prst="chevron">
            <a:avLst>
              <a:gd fmla="val 50000" name="adj"/>
            </a:avLst>
          </a:prstGeom>
          <a:solidFill>
            <a:srgbClr val="D9383A"/>
          </a:solidFill>
          <a:ln cap="flat" cmpd="sng" w="254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5532120" y="228600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Checkout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5737860" y="3172977"/>
            <a:ext cx="1920300" cy="329100"/>
          </a:xfrm>
          <a:prstGeom prst="roundRect">
            <a:avLst>
              <a:gd fmla="val 50000" name="adj"/>
            </a:avLst>
          </a:prstGeom>
          <a:solidFill>
            <a:srgbClr val="D938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5737860" y="3172977"/>
            <a:ext cx="1920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CRITICAL DROP-OFF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7680960" y="2286000"/>
            <a:ext cx="2606040" cy="868680"/>
          </a:xfrm>
          <a:prstGeom prst="chevron">
            <a:avLst>
              <a:gd fmla="val 50000" name="adj"/>
            </a:avLst>
          </a:prstGeom>
          <a:solidFill>
            <a:srgbClr val="232323"/>
          </a:solidFill>
          <a:ln cap="flat" cmpd="sng" w="254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7818120" y="228600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Payment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822960" y="3520440"/>
            <a:ext cx="73152" cy="2514600"/>
          </a:xfrm>
          <a:prstGeom prst="rect">
            <a:avLst/>
          </a:prstGeom>
          <a:solidFill>
            <a:srgbClr val="D938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896112" y="3520440"/>
            <a:ext cx="5047488" cy="2514600"/>
          </a:xfrm>
          <a:prstGeom prst="roundRect">
            <a:avLst>
              <a:gd fmla="val 2909" name="adj"/>
            </a:avLst>
          </a:prstGeom>
          <a:solidFill>
            <a:srgbClr val="20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1097280" y="37033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1097280" y="4206240"/>
            <a:ext cx="46177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Loss at Peak Conversion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At the Checkout step, the user is already ready to pay. A silent cart reset on upsell decline breaks the flow at </a:t>
            </a:r>
            <a:r>
              <a:rPr b="1" i="0" lang="en-US" sz="1250" u="none" cap="none" strike="noStrike">
                <a:solidFill>
                  <a:srgbClr val="C5A059"/>
                </a:solidFill>
                <a:latin typeface="Calibri"/>
                <a:ea typeface="Calibri"/>
                <a:cs typeface="Calibri"/>
                <a:sym typeface="Calibri"/>
              </a:rPr>
              <a:t>the single most expensive moment</a:t>
            </a:r>
            <a:r>
              <a:rPr b="0" i="0" lang="en-US" sz="125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 — the customer leaves for a competitor.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6199632" y="3520440"/>
            <a:ext cx="73152" cy="2514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6272784" y="3520440"/>
            <a:ext cx="5047488" cy="2514600"/>
          </a:xfrm>
          <a:prstGeom prst="roundRect">
            <a:avLst>
              <a:gd fmla="val 2909" name="adj"/>
            </a:avLst>
          </a:prstGeom>
          <a:solidFill>
            <a:srgbClr val="20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6473952" y="37033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6473952" y="4206240"/>
            <a:ext cx="46177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Hidden Barriers for International Customers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Legal pages and key blocks appear translated but contain placeholders or incomplete translation. This lowers </a:t>
            </a:r>
            <a:r>
              <a:rPr b="1" i="0" lang="en-US" sz="1250" u="none" cap="none" strike="noStrike">
                <a:solidFill>
                  <a:srgbClr val="C5A059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r>
              <a:rPr b="0" i="0" lang="en-US" sz="125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 (Trust Rate) and increases churn (Churn Rate).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6"/>
          <p:cNvSpPr/>
          <p:nvPr/>
        </p:nvSpPr>
        <p:spPr>
          <a:xfrm>
            <a:off x="77724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5A059"/>
                </a:solidFill>
                <a:latin typeface="Calibri"/>
                <a:ea typeface="Calibri"/>
                <a:cs typeface="Calibri"/>
                <a:sym typeface="Calibri"/>
              </a:rPr>
              <a:t>VERDICT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16"/>
          <p:cNvCxnSpPr/>
          <p:nvPr/>
        </p:nvCxnSpPr>
        <p:spPr>
          <a:xfrm>
            <a:off x="795528" y="822960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16"/>
          <p:cNvSpPr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Conclusions &amp; Verdict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777240" y="16916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E4E4E4"/>
                </a:solidFill>
                <a:latin typeface="Calibri"/>
                <a:ea typeface="Calibri"/>
                <a:cs typeface="Calibri"/>
                <a:sym typeface="Calibri"/>
              </a:rPr>
              <a:t>Ready for launch with one blocking fix — not a rebuild.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548640" y="2240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5A059"/>
                </a:solidFill>
                <a:latin typeface="Calibri"/>
                <a:ea typeface="Calibri"/>
                <a:cs typeface="Calibri"/>
                <a:sym typeface="Calibri"/>
              </a:rPr>
              <a:t>LAUNCH READINESS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514600"/>
            <a:ext cx="329184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6"/>
          <p:cNvSpPr/>
          <p:nvPr/>
        </p:nvSpPr>
        <p:spPr>
          <a:xfrm>
            <a:off x="548640" y="365760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A66A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3FA66A"/>
                </a:solidFill>
                <a:latin typeface="Cambria"/>
                <a:ea typeface="Cambria"/>
                <a:cs typeface="Cambria"/>
                <a:sym typeface="Cambria"/>
              </a:rPr>
              <a:t>2/3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548640" y="42245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4E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E4E4"/>
                </a:solidFill>
                <a:latin typeface="Calibri"/>
                <a:ea typeface="Calibri"/>
                <a:cs typeface="Calibri"/>
                <a:sym typeface="Calibri"/>
              </a:rPr>
              <a:t>DIMENSIONS READY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4434840" y="2468880"/>
            <a:ext cx="64008" cy="960120"/>
          </a:xfrm>
          <a:prstGeom prst="rect">
            <a:avLst/>
          </a:prstGeom>
          <a:solidFill>
            <a:srgbClr val="3FA6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4498848" y="2468880"/>
            <a:ext cx="6903720" cy="960120"/>
          </a:xfrm>
          <a:prstGeom prst="roundRect">
            <a:avLst>
              <a:gd fmla="val 6667" name="adj"/>
            </a:avLst>
          </a:prstGeom>
          <a:solidFill>
            <a:srgbClr val="20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4754880" y="2578608"/>
            <a:ext cx="2926080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Content &amp; Branding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7589520" y="2578608"/>
            <a:ext cx="3657600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Rich menu, accurate dish presentation, and consistent brand identity — fully production-ready.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4434840" y="3566160"/>
            <a:ext cx="64008" cy="9601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4498848" y="3566160"/>
            <a:ext cx="6903720" cy="960120"/>
          </a:xfrm>
          <a:prstGeom prst="roundRect">
            <a:avLst>
              <a:gd fmla="val 6667" name="adj"/>
            </a:avLst>
          </a:prstGeom>
          <a:solidFill>
            <a:srgbClr val="20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4754880" y="3675888"/>
            <a:ext cx="2926080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Usability &amp; UX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7589520" y="3675888"/>
            <a:ext cx="3657600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Search, feedback messages, and field validation need targeted work in the next sprint.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4434840" y="4663440"/>
            <a:ext cx="64008" cy="960120"/>
          </a:xfrm>
          <a:prstGeom prst="rect">
            <a:avLst/>
          </a:prstGeom>
          <a:solidFill>
            <a:srgbClr val="D938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4498848" y="4663440"/>
            <a:ext cx="6903720" cy="960120"/>
          </a:xfrm>
          <a:prstGeom prst="roundRect">
            <a:avLst>
              <a:gd fmla="val 6667" name="adj"/>
            </a:avLst>
          </a:prstGeom>
          <a:solidFill>
            <a:srgbClr val="20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4754880" y="4773168"/>
            <a:ext cx="2926080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One Blocking Item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7589520" y="4773168"/>
            <a:ext cx="3657600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The cart reset on upsell decline must be fixed before any public release.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4498848" y="5989320"/>
            <a:ext cx="2240280" cy="457200"/>
          </a:xfrm>
          <a:prstGeom prst="roundRect">
            <a:avLst>
              <a:gd fmla="val 50000" name="adj"/>
            </a:avLst>
          </a:prstGeom>
          <a:solidFill>
            <a:srgbClr val="2A2A2A"/>
          </a:solidFill>
          <a:ln cap="flat" cmpd="sng" w="1270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4498848" y="59893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5A059"/>
                </a:solidFill>
                <a:latin typeface="Calibri"/>
                <a:ea typeface="Calibri"/>
                <a:cs typeface="Calibri"/>
                <a:sym typeface="Calibri"/>
              </a:rPr>
              <a:t>Fix the Critical Bug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6739128" y="59893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C5A059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7013448" y="5989320"/>
            <a:ext cx="2468880" cy="457200"/>
          </a:xfrm>
          <a:prstGeom prst="roundRect">
            <a:avLst>
              <a:gd fmla="val 50000" name="adj"/>
            </a:avLst>
          </a:prstGeom>
          <a:solidFill>
            <a:srgbClr val="2A2A2A"/>
          </a:solidFill>
          <a:ln cap="flat" cmpd="sng" w="1270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7013448" y="59893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5A059"/>
                </a:solidFill>
                <a:latin typeface="Calibri"/>
                <a:ea typeface="Calibri"/>
                <a:cs typeface="Calibri"/>
                <a:sym typeface="Calibri"/>
              </a:rPr>
              <a:t>Run Regression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9482328" y="59893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C5A059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9756648" y="5989320"/>
            <a:ext cx="1691640" cy="457200"/>
          </a:xfrm>
          <a:prstGeom prst="roundRect">
            <a:avLst>
              <a:gd fmla="val 50000" name="adj"/>
            </a:avLst>
          </a:prstGeom>
          <a:solidFill>
            <a:srgbClr val="3FA66A"/>
          </a:solidFill>
          <a:ln cap="flat" cmpd="sng" w="12700">
            <a:solidFill>
              <a:srgbClr val="3FA6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9756648" y="59893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Better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10607040" y="6492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7"/>
          <p:cNvSpPr/>
          <p:nvPr/>
        </p:nvSpPr>
        <p:spPr>
          <a:xfrm>
            <a:off x="822960" y="2743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A059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C5A059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17"/>
          <p:cNvCxnSpPr/>
          <p:nvPr/>
        </p:nvCxnSpPr>
        <p:spPr>
          <a:xfrm>
            <a:off x="841248" y="361188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17"/>
          <p:cNvSpPr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 welcome.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Denis - QA &amp; Automation, Technion TCQA46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